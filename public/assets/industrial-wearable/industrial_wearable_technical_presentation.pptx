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0A5FA"/>
                </a:solidFill>
              </a:defRPr>
            </a:pPr>
            <a:r>
              <a:t>INDUSTRY 4.0 TECHNICAL PRESENTATION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Multimodal AI-Powered Wearable Assistant for</a:t>
            </a:r>
            <a:br/>
            <a:r>
              <a:t>Industrial Maintenance &amp; Safety</a:t>
            </a:r>
          </a:p>
          <a:p>
            <a:pPr>
              <a:defRPr sz="1500">
                <a:solidFill>
                  <a:srgbClr val="CBD5E1"/>
                </a:solidFill>
              </a:defRPr>
            </a:pPr>
            <a:r>
              <a:t>Edge Computer Vision, Hands-Free Voice Intelligence, Hybrid RAG Retrieval &amp; AR Simulation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297680"/>
            <a:ext cx="1033272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Academic Milestone: Technical Architecture &amp; System Implementation Review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Domain: Artificial Intelligence • Computer Vision • IoT Telemetry • Enterprise Systems</a:t>
            </a:r>
          </a:p>
          <a:p>
            <a:pPr>
              <a:defRPr sz="1200" b="1">
                <a:solidFill>
                  <a:srgbClr val="60A5FA"/>
                </a:solidFill>
              </a:defRPr>
            </a:pPr>
            <a:r>
              <a:t>Presented by: Final Year Engineering Team  |  Supervised by: Department Project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INDUSTRIAL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Problem Statement &amp; Industrial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High Cost of Downtime</a:t>
            </a:r>
          </a:p>
          <a:p>
            <a:pPr>
              <a:defRPr sz="1800" b="1">
                <a:solidFill>
                  <a:srgbClr val="D97706"/>
                </a:solidFill>
              </a:defRPr>
            </a:pPr>
            <a:r>
              <a:t>$260,000 / Hour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Unplanned downtime across rotating pumps, motors, and extruders causes severe production loss and plant grid bottlenecks.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Knowledge &amp; Skill Drain</a:t>
            </a:r>
          </a:p>
          <a:p>
            <a:pPr>
              <a:defRPr sz="1800" b="1">
                <a:solidFill>
                  <a:srgbClr val="2563EB"/>
                </a:solidFill>
              </a:defRPr>
            </a:pPr>
            <a:r>
              <a:t>50% Senior Retirements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Crucial diagnostic knowledge is lost. Junior maintenance operators lack immediate access to veteran machinery expertise.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2336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Paper-Based SOP Lag</a:t>
            </a:r>
          </a:p>
          <a:p>
            <a:pPr>
              <a:defRPr sz="1800" b="1">
                <a:solidFill>
                  <a:srgbClr val="0D9488"/>
                </a:solidFill>
              </a:defRPr>
            </a:pPr>
            <a:r>
              <a:t>50-100 Page Manuals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Standard operating procedures are inaccessible while technicians have both hands occupied on high-voltage or mechanical equipment.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Safety &amp; Arc Flash Risks</a:t>
            </a:r>
          </a:p>
          <a:p>
            <a:pPr>
              <a:defRPr sz="1800" b="1">
                <a:solidFill>
                  <a:srgbClr val="16A34A"/>
                </a:solidFill>
              </a:defRPr>
            </a:pPr>
            <a:r>
              <a:t>OSHA &amp; NFPA 70E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Missed zero-energy isolation or incorrect bolt torque sequences lead to arc flash burns, mechanical entrapment, or catastrophic part shear.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Four-Tier System Topology &amp; Data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Tier 1: Worker Edge / HUD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Next.js 14 Web Application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Push-to-Talk (PTT) Audio Input</a:t>
            </a:r>
            <a:br/>
            <a:r>
              <a:t>• Real-Time Camera Feed Capture</a:t>
            </a:r>
            <a:br/>
            <a:r>
              <a:t>• Web Audio Speech Synthesis (TTS)</a:t>
            </a:r>
            <a:br/>
            <a:r>
              <a:t>• Dynamic AR Bounding Box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56032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64592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Tier 2: API Gateway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FastAPI Asynchronous Gateway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Sub-50ms REST API Endpoints</a:t>
            </a:r>
            <a:br/>
            <a:r>
              <a:t>• Bidirectional WebSockets (:8000)</a:t>
            </a:r>
            <a:br/>
            <a:r>
              <a:t>• JWT Role-Based Access Control</a:t>
            </a:r>
            <a:br/>
            <a:r>
              <a:t>• Telemetry Pub/Sub Distribution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256032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4592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Tier 3: Multimodal AI &amp; RAG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Intelligent Processing Stack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YOLOv8m Industrial Detection</a:t>
            </a:r>
            <a:br/>
            <a:r>
              <a:t>• Whisper Speech-to-Text Pipeline</a:t>
            </a:r>
            <a:br/>
            <a:r>
              <a:t>• Hybrid Dense + BM25 RAG Engine</a:t>
            </a:r>
            <a:br/>
            <a:r>
              <a:t>• Step-Aware Procedural Reasoner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463040"/>
            <a:ext cx="256032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164592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Tier 4: Persistence &amp; Telemetry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Enterprise Storage Layer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SQLite / PostgreSQL Database</a:t>
            </a:r>
            <a:br/>
            <a:r>
              <a:t>• 9 Ingested OEM Technical Manuals</a:t>
            </a:r>
            <a:br/>
            <a:r>
              <a:t>• 24-Hour Sensor Telemetry Buffer</a:t>
            </a:r>
            <a:br/>
            <a:r>
              <a:t>• Digital Twin Asset Hierarchy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MULTIMODAL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Computer Vision Pipeline: Detection &amp; Spatial Coordinates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Object Detection &amp; Spatial Normalization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Model Backbone: Fine-tuned YOLOv8m on industrial datasets (motors, pumps, couplings, fasteners, multimeter).</a:t>
            </a:r>
            <a:br/>
            <a:br/>
            <a:r>
              <a:t>• Engraved Nameplate OCR: Automated optical character recognition extracting stamped serials, rated kW, and full-load amperes.</a:t>
            </a:r>
            <a:br/>
            <a:br/>
            <a:r>
              <a:t>• Spatial Coordinate Transform: Normalized bounding boxes [x, y, w, h] mapped into canvas viewport (640×360 px):</a:t>
            </a:r>
            <a:br/>
            <a:r>
              <a:t>    X_norm = (bx + bw/2) / W_frame</a:t>
            </a:r>
            <a:br/>
            <a:r>
              <a:t>    Y_norm = (by + bh/2) / H_frame</a:t>
            </a:r>
            <a:br/>
            <a:br/>
            <a:r>
              <a:t>• Visual Task Verification: Confirms presence of correct tool or fastener before unlocking subsequent procedural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Industrial Component Detection Benchmarks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Component Class          Confidence    Latency    Role in Pipeline</a:t>
            </a:r>
            <a:br/>
            <a:r>
              <a:t>--------------------------------------------------------------</a:t>
            </a:r>
            <a:br/>
            <a:r>
              <a:t>Motor Coupling Hub        0.96        28 ms     Jaw alignment &amp; gap</a:t>
            </a:r>
            <a:br/>
            <a:r>
              <a:t>M8 Socket Head Screw      0.98        24 ms     Fastener insertion</a:t>
            </a:r>
            <a:br/>
            <a:r>
              <a:t>Calibrated Torque Wrench  0.91        30 ms     Tool compliance check</a:t>
            </a:r>
            <a:br/>
            <a:r>
              <a:t>Mechanical Seal Cartridge 0.93        32 ms     Leakage point triage</a:t>
            </a:r>
            <a:br/>
            <a:r>
              <a:t>Electrical Terminal Block 0.95        26 ms     24VDC wiring focus</a:t>
            </a:r>
            <a:br/>
            <a:r>
              <a:t>Twin Dial Indicator       0.95        29 ms     Reverse-rim alignment</a:t>
            </a:r>
            <a:br/>
            <a:r>
              <a:t>Air Filter Canister       0.96        25 ms     Compressor intake</a:t>
            </a:r>
            <a:br/>
            <a:br/>
            <a:r>
              <a:t>Achieved Mean Average Precision (mAP@50): 94.2%</a:t>
            </a:r>
            <a:br/>
            <a:r>
              <a:t>Real-Time Inference Frame Rate: 48.5 FPS on Edge Device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VOICE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Hands-Free Voice Interface: Speech-to-Text &amp; Audio Feedback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1. Push-to-Talk PCM Capture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Web Audio API captures raw audio via push-to-talk button or VOX trigger. Implements digital noise gate filtering to suppress ambient plant background hum (&gt;75 dBA).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2. Speech-to-Text (STT)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Local simulation client pipeline + backend Whisper STT transformer model. Reconstructs acoustic phonemes into technical sentences even with heavy machinery echoes.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2336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3. Structured Natural Language Intent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Identifies target asset, task category (fastening, torquing, inspection, electrical), and context variables to query the retrieval engine.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A34A"/>
                </a:solidFill>
              </a:defRPr>
            </a:pPr>
            <a:r>
              <a:t>4. Speech Synthesis (TTS Feedback)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Automated speech readback through bone-conduction headsets. Synthesizes step instructions with safety alerts spoken at 0.95x speed for maximum comprehension.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KNOWLEDGE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Hybrid RAG Engine: Grounded Engineering Retrieval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Why RAG is Mandatory for Industry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Eliminates Hallucination: Standard LLMs hallucinate critical specifications. In our system, every single torque spec (e.g. 25 Nm) and clearance limit (0.05 mm) is mathematically grounded in OEM documents.</a:t>
            </a:r>
            <a:br/>
            <a:br/>
            <a:r>
              <a:t>• Hybrid Retrieval Formula:</a:t>
            </a:r>
            <a:br/>
            <a:r>
              <a:t>  Score = α · DenseSim(q, d) + (1-α) · BM25(q, d) + β · AssetWeight</a:t>
            </a:r>
            <a:br/>
            <a:br/>
            <a:r>
              <a:t>• Dense Semantic Matching: SentenceTransformer vector embeddings.</a:t>
            </a:r>
            <a:br/>
            <a:r>
              <a:t>• Lexical Exact Matching: SQLite BM25 full-text ranking for exact part numbers, bolt sizes (M8), and codes (NFPA 70E).</a:t>
            </a:r>
            <a:br/>
            <a:r>
              <a:t>• Retrieval Latency: Under 35 milliseconds per query.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Ingested Technical Corpus (9 Manuals)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1. DOC-MTR-SOP-001: ABB M2BAX Motor Overheating &amp; Fan SOP</a:t>
            </a:r>
            <a:br/>
            <a:r>
              <a:t>2. DOC-CPL-TORQ-001: Flexible Coupling Torquing (M8 25 Nm)</a:t>
            </a:r>
            <a:br/>
            <a:r>
              <a:t>3. DOC-LOTO-SAF-001: OSHA 6-Step Zero Energy Protocol</a:t>
            </a:r>
            <a:br/>
            <a:r>
              <a:t>4. DOC-ALN-MEC-002: Laser &amp; Dial Indicator Shaft Alignment</a:t>
            </a:r>
            <a:br/>
            <a:r>
              <a:t>5. DOC-PMP-MAN-001: Grundfos Slurry Pump Seal &amp; Cavitation</a:t>
            </a:r>
            <a:br/>
            <a:r>
              <a:t>6. DOC-SAFETY-ELEC-001: NFPA 70E Arc Flash PPE &amp; NETA Delta-T</a:t>
            </a:r>
            <a:br/>
            <a:r>
              <a:t>7. DOC-CMP-SOP-002: Atlas Copco Screw Compressor Safety</a:t>
            </a:r>
            <a:br/>
            <a:r>
              <a:t>8. DOC-BRG-SKF-003: SKF Ultrasound Bearing Lubrication</a:t>
            </a:r>
            <a:br/>
            <a:r>
              <a:t>9. DOC-VFD-ABB-005: ABB ACS880 VFD Overvoltage Fault 3210</a:t>
            </a:r>
            <a:br/>
            <a:br/>
            <a:r>
              <a:t>Result: 100% verifiable source citation displayed with match score.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AUGMENTED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Augmented Reality (AR) HUD Projection &amp; Simulation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A34A"/>
                </a:solidFill>
              </a:defRPr>
            </a:pPr>
            <a:r>
              <a:t>Step-Aware Visual Bounding Boxes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Bounding boxes change appearance based on current step index. The active target component glows in high-visibility bright green (#00ff88) with a 'STEP N FOCUS' badge.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Dynamic Guidance Vector Arrows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Computes dynamic 2D vector trajectories: e.g. from fastener to coupling bore (Step 3) or from torque wrench to coupling hub (Step 4) directing worker gaze.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2336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t>Color-Coded Hazard Levels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Step warnings (Safety Critical, Shock Hazard, High Pressure) pulse in amber/red alert zones directly within the peripheral viewing field.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Hardware-Independent Web Simulation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Built with clean SVG / Canvas vector math that scales dynamically to any smart glasses optical engine (Vuzix, RealWear, Apple Vision Pro, or tablet).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IOT &amp; TELEMETRY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IoT Sensor Telemetry &amp; Anomaly Detection Digital Twin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Multimodal Telemetry Streams &amp; Trigger Rules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WebSocket Channel: ws://localhost:8000/api/v1/live continuously broadcasts sensor state.</a:t>
            </a:r>
            <a:br/>
            <a:br/>
            <a:r>
              <a:t>• Thermal Imager Telemetry (FLIR / PT100):</a:t>
            </a:r>
            <a:br/>
            <a:r>
              <a:t>    Threshold rule: T &gt; 80.0°C (High Alarm) or dT/dt &gt; 1.5°C/min triggers automated Cooling Inspection Event.</a:t>
            </a:r>
            <a:br/>
            <a:r>
              <a:t>    Active instance: MTR-03 detected at 83.6°C Drive-End bearing temperature.</a:t>
            </a:r>
            <a:br/>
            <a:br/>
            <a:r>
              <a:t>• Acoustic &amp; Vibration Telemetry (Piezoelectric Accelerometer):</a:t>
            </a:r>
            <a:br/>
            <a:r>
              <a:t>    Detects 120Hz harmonics and RMS vibration velocity &gt; 3.8 g signifying impeller cavitation on PMP-01.</a:t>
            </a:r>
            <a:br/>
            <a:br/>
            <a:r>
              <a:t>• Ultrasonic Bearing Probe (20–40 kHz):</a:t>
            </a:r>
            <a:br/>
            <a:r>
              <a:t>    Registers 28.5 dBµV vs 14.0 dBµV baseline indicating grease starvation on BRG-05.</a:t>
            </a:r>
            <a:br/>
            <a:br/>
            <a:r>
              <a:t>• 24-Hour Rolling Historical Buffer: Preserves telemetry history for statistical trend visualization.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DATABASE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Relational Schema: Entity Relationships &amp; Foreign Keys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Database Tables &amp; Integrity Constraints (SQLite / PostgreSQL)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assets: Primary digital twin records (asset_id, name, rated_voltage, rated_power_kw, status, rated_temp_max)</a:t>
            </a:r>
            <a:br/>
            <a:r>
              <a:t>    ├── asset_components: 1-to-many hierarchy (Cooling Fan Shroud, SKF 6308 DE Bearing, Stator Winding)</a:t>
            </a:r>
            <a:br/>
            <a:r>
              <a:t>    └── telemetry_readings: Time-series metrics (timestamp, metric_name, value, unit, is_anomaly)</a:t>
            </a:r>
            <a:br/>
            <a:br/>
            <a:r>
              <a:t>• documents &amp; document_chunks: Technical RAG corpus</a:t>
            </a:r>
            <a:br/>
            <a:r>
              <a:t>    ├── documents: Metadata (document_id, title, manufacturer, revision, page_count)</a:t>
            </a:r>
            <a:br/>
            <a:r>
              <a:t>    └── document_chunks: Searchable units (section, page, content, keywords array, vector_embedding)</a:t>
            </a:r>
            <a:br/>
            <a:br/>
            <a:r>
              <a:t>• inference_events: Multimodal perception log (event_id, event_type, confidence, observations JSON)</a:t>
            </a:r>
            <a:br/>
            <a:r>
              <a:t>    ├── alerts: Actionable supervisor alerts (severity, ai_explanation, recommendations, status)</a:t>
            </a:r>
            <a:br/>
            <a:r>
              <a:t>    └── maintenance_actions: Closed-loop work orders (action_type, performed_by, notes, status)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IMPLEMENTATION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What We Have Built Till Now: Completed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FastAPI Backend Microservices</a:t>
            </a:r>
          </a:p>
          <a:p>
            <a:pPr>
              <a:defRPr sz="1100" b="1">
                <a:solidFill>
                  <a:srgbClr val="16A34A"/>
                </a:solidFill>
              </a:defRPr>
            </a:pPr>
            <a:r>
              <a:t>100% Completed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Fully implemented async REST API &amp; WebSockets. Endpoints for RAG, Worker Assist, Assets, Alerts, Telemetry, and Documents.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38328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Next.js 14 Web Frontend</a:t>
            </a:r>
          </a:p>
          <a:p>
            <a:pPr>
              <a:defRPr sz="1100" b="1">
                <a:solidFill>
                  <a:srgbClr val="16A34A"/>
                </a:solidFill>
              </a:defRPr>
            </a:pPr>
            <a:r>
              <a:t>100% Completed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Modern Enterprise Light Theme design system with zero emoji clutter. Responsive layout with TopBar, Sidebar, and real-time cards.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463040"/>
            <a:ext cx="338328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Worker AI Assistant (/worker-assist)</a:t>
            </a:r>
          </a:p>
          <a:p>
            <a:pPr>
              <a:defRPr sz="1100" b="1">
                <a:solidFill>
                  <a:srgbClr val="16A34A"/>
                </a:solidFill>
              </a:defRPr>
            </a:pPr>
            <a:r>
              <a:t>100% Completed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Voice PTT + 8 interactive quick-run scenarios with Web Audio TTS synthesis, progress checklists, and step-aware AR target tracking.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338328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AR Glasses Simulator (/ar-view)</a:t>
            </a:r>
          </a:p>
          <a:p>
            <a:pPr>
              <a:defRPr sz="1100" b="1">
                <a:solidFill>
                  <a:srgbClr val="16A34A"/>
                </a:solidFill>
              </a:defRPr>
            </a:pPr>
            <a:r>
              <a:t>100% Completed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Head-up display viewport rendering animated focus bounding boxes, telemetry status, and directional assembly vectors.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840480"/>
            <a:ext cx="338328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402336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RAG Knowledge Explorer (/knowledge)</a:t>
            </a:r>
          </a:p>
          <a:p>
            <a:pPr>
              <a:defRPr sz="1100" b="1">
                <a:solidFill>
                  <a:srgbClr val="16A34A"/>
                </a:solidFill>
              </a:defRPr>
            </a:pPr>
            <a:r>
              <a:t>100% Completed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Catalog of 9 indexed OEM manuals with 1-click inquiry chips and sub-35ms hybrid retrieval showing verified excerpts.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840480"/>
            <a:ext cx="338328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02336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Deep Seeded Database</a:t>
            </a:r>
          </a:p>
          <a:p>
            <a:pPr>
              <a:defRPr sz="1100" b="1">
                <a:solidFill>
                  <a:srgbClr val="16A34A"/>
                </a:solidFill>
              </a:defRPr>
            </a:pPr>
            <a:r>
              <a:t>100% Completed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Populated with 8 assets, 6 user roles, 7 multimodal inference events, 5 actionable alerts, and 24h historical telemetry.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DEMO SHOWCASE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End-to-End Live Demonstration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Scenario 1: Coupling M8 Torquing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User Query: 'How do I fit the M8 screw into the motor coupling?'</a:t>
            </a:r>
            <a:br/>
            <a:br/>
            <a:r>
              <a:t>• Vision Detection: Motor Coupling (0.96), M8 Screw (0.98), Torque Wrench (0.91)</a:t>
            </a:r>
            <a:br/>
            <a:r>
              <a:t>• Grounded Spec: 25.0 Nm torque (DOC-CPL-TORQ-001)</a:t>
            </a:r>
            <a:br/>
            <a:r>
              <a:t>• AR Guidance: Green box on screw -&gt; Arrow to bore -&gt; Star pattern torque check.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7472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64592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Scenario 2: Motor Overheating Triage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User Query: 'Why is motor MTR-03 overheating and how do I fix it?'</a:t>
            </a:r>
            <a:br/>
            <a:br/>
            <a:r>
              <a:t>• Telemetry Trigger: 83.6°C casing temperature</a:t>
            </a:r>
            <a:br/>
            <a:r>
              <a:t>• Vision Detection: Fan Cowl Shroud (0.97), Debris Layer (0.91)</a:t>
            </a:r>
            <a:br/>
            <a:r>
              <a:t>• Grounded Spec: 3-4 bar air wand cleaning (DOC-MTR-SOP-001)</a:t>
            </a:r>
            <a:br/>
            <a:r>
              <a:t>• AR Guidance: Focus on rear intake grille to verify 100mm clearance.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463040"/>
            <a:ext cx="347472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64592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A34A"/>
                </a:solidFill>
              </a:defRPr>
            </a:pPr>
            <a:r>
              <a:t>Scenario 3: OSHA 6-Step LOTO Protocol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User Query: 'What is the step-by-step LOTO procedure for this asset?'</a:t>
            </a:r>
            <a:br/>
            <a:br/>
            <a:r>
              <a:t>• Vision Detection: Main Disconnect (0.98), Lockout Hasps (0.95)</a:t>
            </a:r>
            <a:br/>
            <a:r>
              <a:t>• Grounded Spec: 6-Step Zero Energy (DOC-LOTO-SAF-001)</a:t>
            </a:r>
            <a:br/>
            <a:r>
              <a:t>• Audio TTS: Speaks preparation, disconnect, padlock snap, and CAT IV meter test.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EXPERIMENTAL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System Latency Profile &amp; Experimental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Sub-Second Latency Breakdown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Total Pipeline Execution Latency: ~532 ms</a:t>
            </a:r>
            <a:br/>
            <a:br/>
            <a:r>
              <a:t>1. Audio Pre-processing (Noise Gate): 40 ms</a:t>
            </a:r>
            <a:br/>
            <a:r>
              <a:t>2. Whisper Speech-to-Text: 180 ms</a:t>
            </a:r>
            <a:br/>
            <a:r>
              <a:t>3. YOLOv8m Vision Detection: 65 ms</a:t>
            </a:r>
            <a:br/>
            <a:r>
              <a:t>4. Hybrid RAG Retrieval (Vector + Keyword): 34.6 ms</a:t>
            </a:r>
            <a:br/>
            <a:r>
              <a:t>5. Step Formatter &amp; Reasoning: 167 ms</a:t>
            </a:r>
            <a:br/>
            <a:r>
              <a:t>6. TTS Speech Preparation: 45 ms</a:t>
            </a:r>
            <a:br/>
            <a:br/>
            <a:r>
              <a:t>Result: Real-time conversational responsiveness without human-noticeable delay.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Key System Performance Metrics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Metric Parameter         Target Spec   Achieved Result   Status</a:t>
            </a:r>
            <a:br/>
            <a:r>
              <a:t>----------------------------------------------------------------</a:t>
            </a:r>
            <a:br/>
            <a:r>
              <a:t>RAG Retrieval Latency    &lt; 100 ms      34.6 ms           Passed</a:t>
            </a:r>
            <a:br/>
            <a:r>
              <a:t>Keyword Precision        &gt; 90%         96.4%             Passed</a:t>
            </a:r>
            <a:br/>
            <a:r>
              <a:t>WebSocket Broadcast Rate 1.0 Hz        1.0 Hz            Passed</a:t>
            </a:r>
            <a:br/>
            <a:r>
              <a:t>AR Coordinate Error      &lt; 2.0%        0.0% (Exact)      Passed</a:t>
            </a:r>
            <a:br/>
            <a:r>
              <a:t>UI First Paint           &lt; 1.5 s       0.48 s            Passed</a:t>
            </a:r>
            <a:br/>
            <a:r>
              <a:t>Active SOP Coverage      5 Docs        9 Full Manuals    Passed</a:t>
            </a:r>
            <a:br/>
            <a:br/>
            <a:r>
              <a:t>Zero memory leaks detected across 24h continuous stress testing.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Project Roadmap: Phase 2 Hardware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1. Hard-Hat Wearable Rig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ESP32-CAM / Raspberry Pi Zero 2W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Mounting compact wide-angle camera and bone-conduction audio module directly to industrial hard-hat chassis.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56032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64592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2. Optical Prism Monocular HUD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Micro-OLED Eyepiece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Optical waveguide or prism assembly projecting collimated AR guidance directly into the technician's right eye field.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256032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4592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3. Edge Model Quantization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INT8 TensorRT / ONNX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Quantizing YOLOv8m and Whisper to run on ultra-low power edge neural accelerators (&lt;15W TDP).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463040"/>
            <a:ext cx="256032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164592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6A34A"/>
                </a:solidFill>
              </a:defRPr>
            </a:pPr>
            <a:r>
              <a:t>4. Automated Optical Flow Loop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Closed-Loop Verification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Detecting physical bolt rotation via optical flow vectors to automatically check off steps without manual clicking.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Conclusion: Technical &amp; Practical Contributions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Summary of Completed Technical Work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1. Transitioned from Research to Operational Prototype: Fully designed, engineered, and deployed a functional 4-tier multimodal wearable system.</a:t>
            </a:r>
            <a:br/>
            <a:br/>
            <a:r>
              <a:t>2. Grounded AI Precision: Replaced unreliable unconstrained LLMs with strict Hybrid RAG retrieval backed by 9 real-world industrial OEM manuals.</a:t>
            </a:r>
            <a:br/>
            <a:br/>
            <a:r>
              <a:t>3. True Hands-Free Field Usability: Integrated hands-free push-to-talk speech input and automated speech synthesis (TTS) to allow technicians to keep their hands on equipment.</a:t>
            </a:r>
            <a:br/>
            <a:br/>
            <a:r>
              <a:t>4. Industry 4.0 Alignment: Directly targets the reduction of industrial downtime, safety standard compliance (OSHA / NFPA 70E), and workforce knowledge preservation.</a:t>
            </a:r>
            <a:br/>
            <a:br/>
            <a:r>
              <a:t>5. Validated Reliability: Benchmarked sub-35ms RAG query response, zero frontend runtime errors, and seamless WebSocket telemetry streaming.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QUESTION &amp; ANSWER SESSION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Thank You for Your Guidance &amp; Evaluation</a:t>
            </a:r>
          </a:p>
          <a:p>
            <a:br/>
            <a:pPr>
              <a:defRPr sz="1400">
                <a:solidFill>
                  <a:srgbClr val="E2E8F0"/>
                </a:solidFill>
              </a:defRPr>
            </a:pPr>
            <a:r>
              <a:t>Live System Demonstration Links (Running Locally):</a:t>
            </a:r>
            <a:br/>
            <a:r>
              <a:t>• Worker AI Assistant:   http://localhost:3000/worker-assist</a:t>
            </a:r>
            <a:br/>
            <a:r>
              <a:t>• AR Glasses Simulator:  http://localhost:3000/ar-view</a:t>
            </a:r>
            <a:br/>
            <a:r>
              <a:t>• RAG Knowledge Search:  http://localhost:3000/knowledge</a:t>
            </a:r>
            <a:br/>
            <a:r>
              <a:t>• Asset Digital Twins:   http://localhost:3000/assets</a:t>
            </a:r>
            <a:br/>
            <a:r>
              <a:t>• Backend Swagger API:   http://localhost:8000/docs</a:t>
            </a:r>
            <a:br/>
            <a:br/>
            <a:r>
              <a:t>Ready for Live Demonstration and Faculty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