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14800" cy="292608"/>
          </a:xfrm>
          <a:prstGeom prst="roundRect">
            <a:avLst/>
          </a:prstGeom>
          <a:solidFill>
            <a:srgbClr val="10253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SMART WEARABLE &amp; HUD OPTICS |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Industrial Sound Intelligence for Smart Wearables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One wearable audio interface concurrently supporting machine condition monitoring and hands-free voice assistance.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594360"/>
          </a:xfrm>
          <a:prstGeom prst="roundRect">
            <a:avLst/>
          </a:prstGeom>
          <a:solidFill>
            <a:srgbClr val="0E1825"/>
          </a:solidFill>
          <a:ln w="12700">
            <a:solidFill>
              <a:srgbClr val="1E3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64208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CORE ARCHITECTURAL CONCEPT: DUAL-PILLAR WEARABLE AUDIO PLATFORM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A single wearable audio array (smart glasses / headset) feeds two independent AI pipelines simultaneously: Pillar 1 passive machine acoustic monitoring and Pillar 2 active hands-free voice assistance.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5230368" cy="3291840"/>
          </a:xfrm>
          <a:prstGeom prst="roundRect">
            <a:avLst/>
          </a:prstGeom>
          <a:solidFill>
            <a:srgbClr val="121E2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41448"/>
            <a:ext cx="490118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PILLAR 1: INDUSTRIAL ACOUSTIC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788920"/>
            <a:ext cx="4901184" cy="457200"/>
          </a:xfrm>
          <a:prstGeom prst="roundRect">
            <a:avLst/>
          </a:prstGeom>
          <a:solidFill>
            <a:srgbClr val="102538"/>
          </a:solidFill>
          <a:ln w="12700">
            <a:solidFill>
              <a:srgbClr val="1E3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816352"/>
            <a:ext cx="471830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1. Audio Acquisition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16 kHz continuous passive sensing via dual-mic wearable array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3319272"/>
            <a:ext cx="4901184" cy="457200"/>
          </a:xfrm>
          <a:prstGeom prst="roundRect">
            <a:avLst/>
          </a:prstGeom>
          <a:solidFill>
            <a:srgbClr val="102538"/>
          </a:solidFill>
          <a:ln w="12700">
            <a:solidFill>
              <a:srgbClr val="1E3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346703"/>
            <a:ext cx="471830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2. Feature Extraction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180-dim deterministic vector: RMS, Crest Factor, Kurtosis, 64-Mel &amp; MFCCs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3849624"/>
            <a:ext cx="4901184" cy="457200"/>
          </a:xfrm>
          <a:prstGeom prst="roundRect">
            <a:avLst/>
          </a:prstGeom>
          <a:solidFill>
            <a:srgbClr val="102538"/>
          </a:solidFill>
          <a:ln w="12700">
            <a:solidFill>
              <a:srgbClr val="1E3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877056"/>
            <a:ext cx="471830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3. Event Classification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8 canonical classes: normal, speech, alarm, impact, leak, cavitation, unknown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4379975"/>
            <a:ext cx="4901184" cy="457200"/>
          </a:xfrm>
          <a:prstGeom prst="roundRect">
            <a:avLst/>
          </a:prstGeom>
          <a:solidFill>
            <a:srgbClr val="102538"/>
          </a:solidFill>
          <a:ln w="12700">
            <a:solidFill>
              <a:srgbClr val="1E3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407407"/>
            <a:ext cx="471830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4. Anomaly Detection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Mahalanobis distance vs asset-calibrated baseline with covariance shrinkage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4910328"/>
            <a:ext cx="4901184" cy="457200"/>
          </a:xfrm>
          <a:prstGeom prst="roundRect">
            <a:avLst/>
          </a:prstGeom>
          <a:solidFill>
            <a:srgbClr val="102538"/>
          </a:solidFill>
          <a:ln w="12700">
            <a:solidFill>
              <a:srgbClr val="1E3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937759"/>
            <a:ext cx="471830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5. Fault Attribution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Diagnostic indicators: bearing spalling, cavitation, unbalance, dry friction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2331720"/>
            <a:ext cx="5230368" cy="3291840"/>
          </a:xfrm>
          <a:prstGeom prst="roundRect">
            <a:avLst/>
          </a:prstGeom>
          <a:solidFill>
            <a:srgbClr val="121E2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2441448"/>
            <a:ext cx="490118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PILLAR 2: INDUSTRIAL VOICE ASSISTANT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91656" y="2788920"/>
            <a:ext cx="4901184" cy="457200"/>
          </a:xfrm>
          <a:prstGeom prst="roundRect">
            <a:avLst/>
          </a:prstGeom>
          <a:solidFill>
            <a:srgbClr val="102538"/>
          </a:solidFill>
          <a:ln w="12700">
            <a:solidFill>
              <a:srgbClr val="1E3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2816352"/>
            <a:ext cx="471830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1. Worker Voice Input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Microphone audio ingestion with real-time SNR, clipping &amp; quality gating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91656" y="3319272"/>
            <a:ext cx="4901184" cy="457200"/>
          </a:xfrm>
          <a:prstGeom prst="roundRect">
            <a:avLst/>
          </a:prstGeom>
          <a:solidFill>
            <a:srgbClr val="102538"/>
          </a:solidFill>
          <a:ln w="12700">
            <a:solidFill>
              <a:srgbClr val="1E3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3346703"/>
            <a:ext cx="471830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2. Voice Activity Detection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Streaming Silero VAD frame tracking with speech boundary pre/post-roll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91656" y="3849624"/>
            <a:ext cx="4901184" cy="457200"/>
          </a:xfrm>
          <a:prstGeom prst="roundRect">
            <a:avLst/>
          </a:prstGeom>
          <a:solidFill>
            <a:srgbClr val="102538"/>
          </a:solidFill>
          <a:ln w="12700">
            <a:solidFill>
              <a:srgbClr val="1E3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3096" y="3877056"/>
            <a:ext cx="471830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3. Faster-Whisper ASR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Quantized INT8 CPU speech-to-text biased on industrial hotwords &amp; tags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91656" y="4379975"/>
            <a:ext cx="4901184" cy="457200"/>
          </a:xfrm>
          <a:prstGeom prst="roundRect">
            <a:avLst/>
          </a:prstGeom>
          <a:solidFill>
            <a:srgbClr val="102538"/>
          </a:solidFill>
          <a:ln w="12700">
            <a:solidFill>
              <a:srgbClr val="1E3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3096" y="4407407"/>
            <a:ext cx="471830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4. Intent &amp; Slot Extraction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12 industrial intents (SOP, torque, temp) + regex/grammar entity binding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91656" y="4910328"/>
            <a:ext cx="4901184" cy="457200"/>
          </a:xfrm>
          <a:prstGeom prst="roundRect">
            <a:avLst/>
          </a:prstGeom>
          <a:solidFill>
            <a:srgbClr val="102538"/>
          </a:solidFill>
          <a:ln w="12700">
            <a:solidFill>
              <a:srgbClr val="1E3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3096" y="4937759"/>
            <a:ext cx="471830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5. Grounded RAG &amp; TTS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20 verified OEM manuals (106 chunks) + technical phonetic speech synthesis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715000"/>
            <a:ext cx="10728655" cy="411480"/>
          </a:xfrm>
          <a:prstGeom prst="roundRect">
            <a:avLst/>
          </a:prstGeom>
          <a:solidFill>
            <a:srgbClr val="0E182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742432"/>
            <a:ext cx="10424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59E0B"/>
                </a:solidFill>
              </a:defRPr>
            </a:pPr>
            <a:r>
              <a:t>CRITICAL SAFETY CROSS-LINK: Speech Interference Gate (is_suppressed_by_speech = True) automatically suspends machinery anomaly scoring while the operator speaks, mathematically preventing conversational voice from triggering false machine alarms.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6236208"/>
            <a:ext cx="10728655" cy="411480"/>
          </a:xfrm>
          <a:prstGeom prst="roundRect">
            <a:avLst/>
          </a:prstGeom>
          <a:solidFill>
            <a:srgbClr val="0E1825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KEY TAKEAWAY: One wearable audio interface supports both continuous machine-condition awareness and hands-free maintenance assistance.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14800" cy="292608"/>
          </a:xfrm>
          <a:prstGeom prst="roundRect">
            <a:avLst/>
          </a:prstGeom>
          <a:solidFill>
            <a:srgbClr val="10253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TECHNICAL ARCHITECTURE | DEEP 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From Raw Audio to Actionable Intelligence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Two parallel mathematical signal processing and neural inference pipelines running on edge hardware.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230368" cy="4480560"/>
          </a:xfrm>
          <a:prstGeom prst="roundRect">
            <a:avLst/>
          </a:prstGeom>
          <a:solidFill>
            <a:srgbClr val="121E2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09928"/>
            <a:ext cx="490118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ACOUSTIC MACHINE MONITORING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39112"/>
            <a:ext cx="490118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1. Audio Ingestion &amp; Preprocessing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16 kHz float32 normalization with payload boundary limits (&lt;= 50MB, &lt;= 180s).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NaN/Inf sanitization with clipping detection (&gt; 99% peak) &amp; low-RMS silence rejection.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816352"/>
            <a:ext cx="490118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2. 180-Dimensional Feature Extraction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Time Domain (5 dims): RMS energy, Crest Factor, Kurtosis, Skewness, Zero-Crossing Rate.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Spectral Descriptors (7 dims): Centroid, Spread, Wiener Flatness, Roll-off (85%), Flux, HFER, Dominant Peak.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Time-Frequency (168 dims): 64 Log-Mel mean+std (128) &amp; 20 MFCCs mean+std (40).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593592"/>
            <a:ext cx="490118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3. 8-Class Sound Event Detection (SED)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Canonical classes: MACHINERY_NORMAL, SPEECH, ALARM, IMPACT, LEAK, CAVITATION, SILENCE, UNKNOWN.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Shannon Predictive Entropy: H(p) = -SUM(p*ln(p)). Signals with H &gt; 1.70 nats routed to UNKNOWN.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Verified Benchmark: Macro-F1 = 97.5% (Precision: 97.9%, Recall: 97.5% on N=160 held-out samples).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370832"/>
            <a:ext cx="490118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4. Asset Anomaly Mahalanobis Engine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Ledoit-Wolf diagonal covariance shrinkage (lambda = 0.05) guaranteeing non-singular precision.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Sigmoid-normalized continuous score s in [0, 1] with 4-frame rolling median persistence filter.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Verified Benchmark: ROC-AUC = 0.946-0.975 | pAUC(0.1) = 0.929 | 0.00 False Alarms / operating hr.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148072"/>
            <a:ext cx="490118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5. Diagnostic Physical Fault Attribution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BEARING_IMPACT_OR_SPALLING (crest factor &gt;= 3.8 / kurtosis elevation).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CAVITATION_OR_TURBULENCE (HFER &gt;= 0.22 on pumps) | UNBALANCE_OR_LOOSENESS | DRY_FRICTION.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1600200"/>
            <a:ext cx="5230368" cy="4480560"/>
          </a:xfrm>
          <a:prstGeom prst="roundRect">
            <a:avLst/>
          </a:prstGeom>
          <a:solidFill>
            <a:srgbClr val="121E2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709928"/>
            <a:ext cx="490118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INDUSTRIAL SPEECH INTELLIGENCE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2039112"/>
            <a:ext cx="490118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1. Audio Quality Diagnostics &amp; VAD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Real-time SNR estimation, peak clipping detection, and dynamic background noise profiling.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Streaming Silero VAD (32ms / 512-sample frame tracking) with pre/post-roll boundary padding.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2816352"/>
            <a:ext cx="490118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2. Faster-Whisper ASR (Quantized INT8)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Hardware-aware execution: INT8 CPU (~185 ms latency) with automatic CUDA fallback.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Contextual initial prompt biasing &amp; industrial hotwords (MTR-03, PMP-01A, SKF 6308, LOTO).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Robustness: 2.4% WER in clean conditions to 16.2% WER under harsh 0 dB plant noise floor.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3593592"/>
            <a:ext cx="490118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3. 12 Industrial Intents &amp; Entity Extraction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12 Canonical Intents: GET_SOP, CHECK_TEMPERATURE, CHECK_ACOUSTIC_ANOMALY, GET_TORQUE_SPEC,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CHECK_ASSET_STATUS, IDENTIFY_COMPONENT, REPORT_FAULT, EXPLAIN_ALARM, REQUEST_NEXT_STEP, REPEAT, CANCEL, EMERGENCY.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Regex &amp; grammar entity extraction: Asset IDs, components, torque values (Nm), temperatures (deg C).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4370832"/>
            <a:ext cx="490118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4. Safety Router &amp; Grounded OEM RAG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Centralized Safety Router: Emergency overrides bypass retrieval; supervisor role gates state changes.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RAG Knowledge Base: Ingests 20 approved OEM technical manuals &amp; SOPs (106 chunks indexed).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Technical Phonetic TTS: Pronunciation rules expand MTR-03 -&gt; 'M-T-R zero three', 45 Nm -&gt; '45 Newton meters'.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5148072"/>
            <a:ext cx="490118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5. Live Verification Example Walkthrough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Operator: 'Check MTR-03 casing temperature.' -&gt; Faster-Whisper STT -&gt; Intent: CHECK_TEMPERATURE,</a:t>
            </a:r>
          </a:p>
          <a:p>
            <a:pPr>
              <a:spcBef>
                <a:spcPts val="100"/>
              </a:spcBef>
              <a:defRPr sz="819">
                <a:solidFill>
                  <a:srgbClr val="FFFFFF"/>
                </a:solidFill>
              </a:defRPr>
            </a:pPr>
            <a:r>
              <a:t>• Entity: MTR-03 -&gt; Verified Telemetry -&gt; Phonetic TTS: 'M-T-R zero three casing temperature is 83.6 degrees Celsius.'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6236208"/>
            <a:ext cx="10728655" cy="411480"/>
          </a:xfrm>
          <a:prstGeom prst="roundRect">
            <a:avLst/>
          </a:prstGeom>
          <a:solidFill>
            <a:srgbClr val="0E1825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KEY TAKEAWAY: Acoustic monitoring detects unusual machine sounds, while speech intelligence enables hands-free interaction with industrial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14800" cy="292608"/>
          </a:xfrm>
          <a:prstGeom prst="roundRect">
            <a:avLst/>
          </a:prstGeom>
          <a:solidFill>
            <a:srgbClr val="10253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INDUSTRIAL APPLICATION &amp; SAFETY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From Sound Detection to Safer Industrial Maintenance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End-to-end incident walkthrough, safety architecture boundaries, and measured engineering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1645920"/>
          </a:xfrm>
          <a:prstGeom prst="roundRect">
            <a:avLst/>
          </a:prstGeom>
          <a:solidFill>
            <a:srgbClr val="121E2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64208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OPERATIONAL INCIDENT WALKTHROUGH: ABNORMAL PUMP CAVITATION DETECTION &amp; ASSISTANCE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65960"/>
            <a:ext cx="1673352" cy="1143000"/>
          </a:xfrm>
          <a:prstGeom prst="roundRect">
            <a:avLst/>
          </a:prstGeom>
          <a:solidFill>
            <a:srgbClr val="0E1825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39112"/>
            <a:ext cx="1527048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E5FF"/>
                </a:solidFill>
              </a:defRPr>
            </a:pPr>
            <a:r>
              <a:t>1. LISTEN</a:t>
            </a:r>
          </a:p>
          <a:p>
            <a:pPr>
              <a:spcBef>
                <a:spcPts val="300"/>
              </a:spcBef>
              <a:defRPr sz="780">
                <a:solidFill>
                  <a:srgbClr val="FFFFFF"/>
                </a:solidFill>
              </a:defRPr>
            </a:pPr>
            <a:r>
              <a:t>Wearable mic passively captures pump PMP-01A acoustic emissions (16kHz).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965960"/>
            <a:ext cx="1673352" cy="1143000"/>
          </a:xfrm>
          <a:prstGeom prst="roundRect">
            <a:avLst/>
          </a:prstGeom>
          <a:solidFill>
            <a:srgbClr val="0E1825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24912" y="2039112"/>
            <a:ext cx="1527048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E5FF"/>
                </a:solidFill>
              </a:defRPr>
            </a:pPr>
            <a:r>
              <a:t>2. ANALYZE</a:t>
            </a:r>
          </a:p>
          <a:p>
            <a:pPr>
              <a:spcBef>
                <a:spcPts val="300"/>
              </a:spcBef>
              <a:defRPr sz="780">
                <a:solidFill>
                  <a:srgbClr val="FFFFFF"/>
                </a:solidFill>
              </a:defRPr>
            </a:pPr>
            <a:r>
              <a:t>Feature extractor spots high-frequency energy ratio rise (HFER &gt;= 0.22).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65960"/>
            <a:ext cx="1673352" cy="1143000"/>
          </a:xfrm>
          <a:prstGeom prst="roundRect">
            <a:avLst/>
          </a:prstGeom>
          <a:solidFill>
            <a:srgbClr val="0E182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2039112"/>
            <a:ext cx="1527048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3. COMPARE</a:t>
            </a:r>
          </a:p>
          <a:p>
            <a:pPr>
              <a:spcBef>
                <a:spcPts val="300"/>
              </a:spcBef>
              <a:defRPr sz="780">
                <a:solidFill>
                  <a:srgbClr val="FFFFFF"/>
                </a:solidFill>
              </a:defRPr>
            </a:pPr>
            <a:r>
              <a:t>Mahalanobis distance vs PMP-01A normal baseline (s = 0.91 &gt; 0.88 critical).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65960"/>
            <a:ext cx="1673352" cy="1143000"/>
          </a:xfrm>
          <a:prstGeom prst="roundRect">
            <a:avLst/>
          </a:prstGeom>
          <a:solidFill>
            <a:srgbClr val="0E182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2039112"/>
            <a:ext cx="1527048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4. ATTRIBUTE</a:t>
            </a:r>
          </a:p>
          <a:p>
            <a:pPr>
              <a:spcBef>
                <a:spcPts val="300"/>
              </a:spcBef>
              <a:defRPr sz="780">
                <a:solidFill>
                  <a:srgbClr val="FFFFFF"/>
                </a:solidFill>
              </a:defRPr>
            </a:pPr>
            <a:r>
              <a:t>System flags CAVITATION_OR_TURBULENCE; alerts operator via AR HUD optics.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965960"/>
            <a:ext cx="1673352" cy="1143000"/>
          </a:xfrm>
          <a:prstGeom prst="roundRect">
            <a:avLst/>
          </a:prstGeom>
          <a:solidFill>
            <a:srgbClr val="0E182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4152" y="2039112"/>
            <a:ext cx="1527048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5. ASSIST</a:t>
            </a:r>
          </a:p>
          <a:p>
            <a:pPr>
              <a:spcBef>
                <a:spcPts val="300"/>
              </a:spcBef>
              <a:defRPr sz="780">
                <a:solidFill>
                  <a:srgbClr val="FFFFFF"/>
                </a:solidFill>
              </a:defRPr>
            </a:pPr>
            <a:r>
              <a:t>Technician speaks: 'Show pump inspection SOP.' Voice intent GET_SOP resolved.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1965960"/>
            <a:ext cx="1673352" cy="1143000"/>
          </a:xfrm>
          <a:prstGeom prst="roundRect">
            <a:avLst/>
          </a:prstGeom>
          <a:solidFill>
            <a:srgbClr val="0E182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57232" y="2039112"/>
            <a:ext cx="1527048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6. RESPOND</a:t>
            </a:r>
          </a:p>
          <a:p>
            <a:pPr>
              <a:spcBef>
                <a:spcPts val="300"/>
              </a:spcBef>
              <a:defRPr sz="780">
                <a:solidFill>
                  <a:srgbClr val="FFFFFF"/>
                </a:solidFill>
              </a:defRPr>
            </a:pPr>
            <a:r>
              <a:t>RAG retrieves approved manual DOC-PMP-SOP-002, speaking Step 1 LOTO isolation.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83280"/>
            <a:ext cx="3456432" cy="2697480"/>
          </a:xfrm>
          <a:prstGeom prst="roundRect">
            <a:avLst/>
          </a:prstGeom>
          <a:solidFill>
            <a:srgbClr val="121E2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493008"/>
            <a:ext cx="312724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SAFETY &amp; RELIABILITY 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794760"/>
            <a:ext cx="31821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59E0B"/>
                </a:solidFill>
              </a:defRPr>
            </a:pPr>
            <a:r>
              <a:t>• Diagnostic Separation: </a:t>
            </a:r>
            <a:r>
              <a:rPr b="0">
                <a:solidFill>
                  <a:srgbClr val="FFFFFF"/>
                </a:solidFill>
              </a:rPr>
              <a:t>Acoustic patterns are probabilistic indicators, never physical certainty. Human inspection is required.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25112"/>
            <a:ext cx="31821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59E0B"/>
                </a:solidFill>
              </a:defRPr>
            </a:pPr>
            <a:r>
              <a:t>• Hardwired E-Stop Independence: </a:t>
            </a:r>
            <a:r>
              <a:rPr b="0">
                <a:solidFill>
                  <a:srgbClr val="FFFFFF"/>
                </a:solidFill>
              </a:rPr>
              <a:t>AI assistant is advisory. Certified physical emergency-stop circuits remain independent safety relays.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855464"/>
            <a:ext cx="31821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59E0B"/>
                </a:solidFill>
              </a:defRPr>
            </a:pPr>
            <a:r>
              <a:t>• Zero-Hallucination Grounding: </a:t>
            </a:r>
            <a:r>
              <a:rPr b="0">
                <a:solidFill>
                  <a:srgbClr val="FFFFFF"/>
                </a:solidFill>
              </a:rPr>
              <a:t>Procedural answers are cited from approved OEM manuals; unverified torque values are rejected.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85816"/>
            <a:ext cx="31821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59E0B"/>
                </a:solidFill>
              </a:defRPr>
            </a:pPr>
            <a:r>
              <a:t>• Operator Confirmation Gates: </a:t>
            </a:r>
            <a:r>
              <a:rPr b="0">
                <a:solidFill>
                  <a:srgbClr val="FFFFFF"/>
                </a:solidFill>
              </a:rPr>
              <a:t>State-changing operations (fault reporting, next-step procedure) require operator confirmation.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3383280"/>
            <a:ext cx="3456432" cy="2697480"/>
          </a:xfrm>
          <a:prstGeom prst="roundRect">
            <a:avLst/>
          </a:prstGeom>
          <a:solidFill>
            <a:srgbClr val="121E2D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5424" y="3493008"/>
            <a:ext cx="312724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MEASURED ENGINEERING BENCHMARKS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7992" y="3794760"/>
            <a:ext cx="318211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 b="1">
                <a:solidFill>
                  <a:srgbClr val="10B981"/>
                </a:solidFill>
              </a:defRPr>
            </a:pPr>
            <a:r>
              <a:t>✔ 99 / 99 Tests Passing</a:t>
            </a:r>
          </a:p>
          <a:p>
            <a:pPr>
              <a:defRPr sz="780">
                <a:solidFill>
                  <a:srgbClr val="94A3B8"/>
                </a:solidFill>
              </a:defRPr>
            </a:pPr>
            <a:r>
              <a:t>100% test success across acoustic, speech, thermal, RAG suites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2" y="4151376"/>
            <a:ext cx="318211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 b="1">
                <a:solidFill>
                  <a:srgbClr val="10B981"/>
                </a:solidFill>
              </a:defRPr>
            </a:pPr>
            <a:r>
              <a:t>✔ 1.41 ms Acoustic Latency</a:t>
            </a:r>
          </a:p>
          <a:p>
            <a:pPr>
              <a:defRPr sz="780">
                <a:solidFill>
                  <a:srgbClr val="94A3B8"/>
                </a:solidFill>
              </a:defRPr>
            </a:pPr>
            <a:r>
              <a:t>Continuous edge execution (Extraction: 1.32ms, SED: 0.03ms, Anom: 0.06ms)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507992"/>
            <a:ext cx="318211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 b="1">
                <a:solidFill>
                  <a:srgbClr val="10B981"/>
                </a:solidFill>
              </a:defRPr>
            </a:pPr>
            <a:r>
              <a:t>✔ 97.5% SED Macro-F1</a:t>
            </a:r>
          </a:p>
          <a:p>
            <a:pPr>
              <a:defRPr sz="780">
                <a:solidFill>
                  <a:srgbClr val="94A3B8"/>
                </a:solidFill>
              </a:defRPr>
            </a:pPr>
            <a:r>
              <a:t>N=160 held-out samples: 100% precision on machinery, speech, alarms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4864608"/>
            <a:ext cx="318211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 b="1">
                <a:solidFill>
                  <a:srgbClr val="10B981"/>
                </a:solidFill>
              </a:defRPr>
            </a:pPr>
            <a:r>
              <a:t>✔ 0.975 Anomaly ROC-AUC</a:t>
            </a:r>
          </a:p>
          <a:p>
            <a:pPr>
              <a:defRPr sz="780">
                <a:solidFill>
                  <a:srgbClr val="94A3B8"/>
                </a:solidFill>
              </a:defRPr>
            </a:pPr>
            <a:r>
              <a:t>PMP-01 cavitation detection (pAUC=0.929, 0.00 False Alarms / hour)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7992" y="5221224"/>
            <a:ext cx="318211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 b="1">
                <a:solidFill>
                  <a:srgbClr val="10B981"/>
                </a:solidFill>
              </a:defRPr>
            </a:pPr>
            <a:r>
              <a:t>✔ 100% Intent Accuracy</a:t>
            </a:r>
          </a:p>
          <a:p>
            <a:pPr>
              <a:defRPr sz="780">
                <a:solidFill>
                  <a:srgbClr val="94A3B8"/>
                </a:solidFill>
              </a:defRPr>
            </a:pPr>
            <a:r>
              <a:t>12/12 canonical industrial intents correctly routed with zero hallucination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7992" y="5577840"/>
            <a:ext cx="318211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 b="1">
                <a:solidFill>
                  <a:srgbClr val="10B981"/>
                </a:solidFill>
              </a:defRPr>
            </a:pPr>
            <a:r>
              <a:t>✔ 20 Approved OEM Manuals</a:t>
            </a:r>
          </a:p>
          <a:p>
            <a:pPr>
              <a:defRPr sz="780">
                <a:solidFill>
                  <a:srgbClr val="94A3B8"/>
                </a:solidFill>
              </a:defRPr>
            </a:pPr>
            <a:r>
              <a:t>106 verified technical documentation chunks indexed for grounded RAG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10144" y="3383280"/>
            <a:ext cx="3456432" cy="2697480"/>
          </a:xfrm>
          <a:prstGeom prst="roundRect">
            <a:avLst/>
          </a:prstGeom>
          <a:solidFill>
            <a:srgbClr val="121E2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74736" y="3493008"/>
            <a:ext cx="312724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PRACTICAL INDUSTRIAL 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7304" y="3794760"/>
            <a:ext cx="31821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0E5FF"/>
                </a:solidFill>
              </a:defRPr>
            </a:pPr>
            <a:r>
              <a:t>• Hands-Free Field Mobility: </a:t>
            </a:r>
            <a:r>
              <a:rPr b="0">
                <a:solidFill>
                  <a:srgbClr val="FFFFFF"/>
                </a:solidFill>
              </a:rPr>
              <a:t>Eliminates dangerous smartphone/tablet handling in rotating machine &amp; high-voltage zones.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47304" y="4325112"/>
            <a:ext cx="31821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0E5FF"/>
                </a:solidFill>
              </a:defRPr>
            </a:pPr>
            <a:r>
              <a:t>• Early Incipient Fault Warning: </a:t>
            </a:r>
            <a:r>
              <a:rPr b="0">
                <a:solidFill>
                  <a:srgbClr val="FFFFFF"/>
                </a:solidFill>
              </a:rPr>
              <a:t>Detects pump cavitation &amp; bearing spalling weeks before thermal overheating occurs.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47304" y="4855464"/>
            <a:ext cx="31821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0E5FF"/>
                </a:solidFill>
              </a:defRPr>
            </a:pPr>
            <a:r>
              <a:t>• Alert Fatigue Elimination: </a:t>
            </a:r>
            <a:r>
              <a:rPr b="0">
                <a:solidFill>
                  <a:srgbClr val="FFFFFF"/>
                </a:solidFill>
              </a:rPr>
              <a:t>Speech interference and transient tool clatter are filtered out to protect operator trust.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7304" y="5385816"/>
            <a:ext cx="31821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0E5FF"/>
                </a:solidFill>
              </a:defRPr>
            </a:pPr>
            <a:r>
              <a:t>• Complete Audit Trail Compliance: </a:t>
            </a:r>
            <a:r>
              <a:rPr b="0">
                <a:solidFill>
                  <a:srgbClr val="FFFFFF"/>
                </a:solidFill>
              </a:rPr>
              <a:t>All safety directives, threshold alerts, and operator queries logged to immutable audit logs.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6236208"/>
            <a:ext cx="10728655" cy="411480"/>
          </a:xfrm>
          <a:prstGeom prst="roundRect">
            <a:avLst/>
          </a:prstGeom>
          <a:solidFill>
            <a:srgbClr val="0E1825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KEY TAKEAWAY: The goal is to combine machine sound awareness with hands-free AI assistance to support industrial workers during inspection and maintenance.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